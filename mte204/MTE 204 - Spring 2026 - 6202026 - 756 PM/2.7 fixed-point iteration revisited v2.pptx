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262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9" autoAdjust="0"/>
    <p:restoredTop sz="94660"/>
  </p:normalViewPr>
  <p:slideViewPr>
    <p:cSldViewPr snapToGrid="0">
      <p:cViewPr varScale="1">
        <p:scale>
          <a:sx n="90" d="100"/>
          <a:sy n="90" d="100"/>
        </p:scale>
        <p:origin x="6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9-24T13:44:06.305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CAD6A560-22E5-4880-ADFB-BF827EAFF5A5}" emma:medium="tactile" emma:mode="ink">
          <msink:context xmlns:msink="http://schemas.microsoft.com/ink/2010/main" type="writingRegion" rotatedBoundingBox="9272,16667 17677,14942 18279,17875 9874,19600"/>
        </emma:interpretation>
      </emma:emma>
    </inkml:annotationXML>
    <inkml:traceGroup>
      <inkml:annotationXML>
        <emma:emma xmlns:emma="http://www.w3.org/2003/04/emma" version="1.0">
          <emma:interpretation id="{03C8086F-9A9F-4954-9844-3EFE9AAEAA5D}" emma:medium="tactile" emma:mode="ink">
            <msink:context xmlns:msink="http://schemas.microsoft.com/ink/2010/main" type="paragraph" rotatedBoundingBox="9272,16667 16912,15099 17211,16558 9571,181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C14B268-DAAC-4FE5-AE96-7DA1D3E1879B}" emma:medium="tactile" emma:mode="ink">
              <msink:context xmlns:msink="http://schemas.microsoft.com/ink/2010/main" type="inkBullet" rotatedBoundingBox="9272,16667 11599,16189 11813,17231 9486,17708"/>
            </emma:interpretation>
            <emma:one-of disjunction-type="recognition" id="oneOf0">
              <emma:interpretation id="interp0" emma:lang="" emma:confidence="0">
                <emma:literal>↳</emma:literal>
              </emma:interpretation>
            </emma:one-of>
          </emma:emma>
        </inkml:annotationXML>
        <inkml:trace contextRef="#ctx0" brushRef="#br0">13 0 977 0,'0'0'1974'15,"0"0"-1491"-15,0 0-236 0,0 0-33 16,0 0-63-16,0 0-31 0,0 0-8 0,0 0-13 15,0 0-34-15,0 0-12 0,0 0 9 16,-23 47-4-16,28-36-27 0,-1 3-3 16,0 2-4-16,-3 0 23 0,3 7 8 15,-4 0-12-15,0 2-6 0,3 5-10 16,-1 5-15-16,0 6 7 0,2 5-7 16,0 4-12-16,3 5-9 0,4 3-19 15,2 0 13-15,0-3-19 0,4-3-15 16,0-9 9-16,3-5 3 0,3-8 36 0,2-5-1 15,5-4-10-15,2-6-16 0,4-4-5 16,4-3-11-16,7-4 44 0,6-4 19 16,6 0-1-16,5-9 7 0,10-1-3 15,0-4-11-15,5 0-10 0,-2 2 16 16,3 3-17-16,0-1-1 0,2 1-14 0,2-3-10 16,2 1 10-16,3-3 13 0,0 1-26 15,3 1 16-15,-4-1-31 0,-1 5 12 16,-4-1-25-16,-1 3 4 0,-3 0 29 15,-2 0 21-15,-5 0 2 0,-4-1-13 16,1-3-12-16,-7-1-12 0,-6 0-12 16,-7-1-10-16,-8 1-4 0,-12 3-12 15,-13-1-45-15,-10 2-122 0,-6 2-259 0,-18 0-3 16,3 2-142-16,-18-3-379 0</inkml:trace>
      </inkml:traceGroup>
      <inkml:traceGroup>
        <inkml:annotationXML>
          <emma:emma xmlns:emma="http://www.w3.org/2003/04/emma" version="1.0">
            <emma:interpretation id="{3A3897FA-E080-492F-9CAA-8E7E558D6A31}" emma:medium="tactile" emma:mode="ink">
              <msink:context xmlns:msink="http://schemas.microsoft.com/ink/2010/main" type="line" rotatedBoundingBox="11653,16721 17018,15620 17211,16558 11846,17659"/>
            </emma:interpretation>
          </emma:emma>
        </inkml:annotationXML>
        <inkml:traceGroup>
          <inkml:annotationXML>
            <emma:emma xmlns:emma="http://www.w3.org/2003/04/emma" version="1.0">
              <emma:interpretation id="{6A3F66A9-560A-4544-AFBD-B315E0D9F176}" emma:medium="tactile" emma:mode="ink">
                <msink:context xmlns:msink="http://schemas.microsoft.com/ink/2010/main" type="inkWord" rotatedBoundingBox="11669,16800 14329,16254 14505,17113 11846,1765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230.85">2864 84 2017 0,'0'0'1913'0,"0"0"-1540"16,0 0-82-16,0 0-137 0,0 0-35 15,0 0 28-15,0 0-37 0,0 0-61 0,124-40-49 16,-83 33 0-16,6-3 0 0,4-1-40 16,3 0-30-16,-2-1-52 0,-5 1-22 15,-4-1 2-15,-5 2-27 0,-9 0 11 16,-1 1 45-16,-5 0 45 0,-3 0 21 15,-2 2 47-15,-1 3 3 0,-4 0 19 0,2 3 31 16,-5 1 59-16,-5 3 19 0,-1 7-20 16,0 5 0-16,-4 6 0 0,3 7-47 15,-3 4-39-15,0 7-14 0,0 3-11 16,0 3-18-16,1-1-16 0,3-2-12 16,1-3-3-16,3-3 15 0,3-6 15 15,0-5 18-15,0-6-10 0,-1-4 11 16,5-4 0-16,-2-5-12 0,4-1 9 15,1-1-18-15,2-1 20 0,2 0-10 16,-1 1-42-16,1 0-5 0,-5 0-57 0,-1 1-94 16,-2 0-140-16,-4-1-190 15,0-2-254-15,-1-2-617 0</inkml:trace>
          <inkml:trace contextRef="#ctx0" brushRef="#br0" timeOffset="844.5">3159-20 3084 0,'0'0'462'15,"0"0"-275"-15,0 0-33 0,0 0-44 16,0 0 44-16,0 0 14 0,0 0-34 16,0 0-60-16,0 0 31 0,0 0 18 0,-2 108-65 15,19-61-36-15,1 4-22 0,-2 2-1 16,1 0-27-16,-1 1 3 0,-4-4-39 15,-4-5-35-15,-2-8-80 0,-5-7-35 0,-1-10-22 16,0-9-69-16,-1-5-197 16,-5-5-241-16,-8-8-500 0</inkml:trace>
          <inkml:trace contextRef="#ctx0" brushRef="#br0" timeOffset="1461.16">3508 160 209 0,'0'0'2073'0,"0"0"-1634"16,0 0-201-16,0 0 24 0,63-91 0 16,-36 72-12-16,-6 4-52 0,1 4-72 15,-3 3-79-15,-9 7-45 0,-2 1 0 16,-4 0 35-16,0 8-37 0,0-1-50 0,-2 2-7 15,0 4-66-15,-2-1-129 0,0-1-183 16,0 2-208-16,-4-4-375 0,-8-2-160 0</inkml:trace>
          <inkml:trace contextRef="#ctx0" brushRef="#br0" timeOffset="1648.63">3670 239 245 0,'0'0'531'0,"0"0"228"16,0 0-168-16,0 0-270 0,128-102 21 16,-99 79-60-16,3 4-93 0,-5 4-189 0,-1 5-87 15,-1 2-108-15,-3 4 73 0,2 1-13 16,0 0-114-16,-1 1-126 0,2-3-54 16,-1 2-101-16,-9-2 5 0,6-2-10 0</inkml:trace>
          <inkml:trace contextRef="#ctx0" brushRef="#br0" timeOffset="1948.32">3894-26 1425 0,'0'0'2856'0,"0"0"-2451"16,0 0-150-16,0 0-191 0,0 0-62 15,47 98-2-15,-13-63 0 0,9 0-76 16,-1 0-22-16,7-1-41 0,-6-5-117 15,-3-2-134-15,-3-2-302 0,-11-10-600 16,2 0-292-16</inkml:trace>
          <inkml:trace contextRef="#ctx0" brushRef="#br0" timeOffset="1769.8">4191 14 342 0,'0'0'636'0,"0"0"-89"16,0 0-205-16,0 0-213 0,-43 95 14 16,23-64-10-16,-2 4 48 0,1-1 16 15,1-1-42-15,5-3-11 0,0-3-41 0,6-5-103 16,1-4-39-16,6-4-115 16,2-5-213-16,0-4-278 0,-2-5-563 0</inkml:trace>
          <inkml:trace contextRef="#ctx0" brushRef="#br0" timeOffset="299.86">2560 259 3265 0,'0'0'1981'0,"0"0"-1723"16,0 0-139-16,0 0-74 0,0 0-30 16,0 0 6-16,-55 85-18 0,52-60-3 15,3-1-27-15,7 2-6 0,12-4 0 16,6 1-16-16,2-3-12 0,4 2-21 0,-1-4-21 15,-1 0-6-15,-3 0-1 0,-1-3-3 16,-9-1 21-16,-3 1 0 0,-6 3-34 16,-7-2-31-16,0 4 33 0,-7 2 124 15,-6 1 28-15,-7 2 68 0,-3 4 39 16,-5 1-21-16,-3 0 18 0,4-1-25 16,-1-1-24-16,7-4-40 0,3-2-43 15,6-2-36-15,4-1-74 0,4-3-92 16,4-1-141-16,0-6-628 0,0-2-967 0</inkml:trace>
          <inkml:trace contextRef="#ctx0" brushRef="#br0" timeOffset="2323.59">4441-185 4073 0,'0'0'679'0,"0"0"-379"0,0 0-117 16,0 0-140-16,0 0 78 0,106-55-54 15,-51 38-67-15,3-1-19 0,1 1-9 16,-6 2-38-16,-3 5-120 0,-3 2-117 15,-5 4-187-15,-4 3-528 0,-8-1 47 16,5 2-1159-16</inkml:trace>
          <inkml:trace contextRef="#ctx0" brushRef="#br0" timeOffset="2154.58">4728-217 4047 0,'0'0'569'0,"0"0"-320"0,0 0-83 16,0 0-102-16,0 0 30 0,-13 121-36 15,10-78-55-15,3 3-3 0,0 0-24 16,8-5-43-16,2-2-101 0,0-8-65 16,1-6-79-16,-4-6-143 0,1-9-136 15,-3-5-440-15,-1-5-379 0</inkml:trace>
        </inkml:traceGroup>
        <inkml:traceGroup>
          <inkml:annotationXML>
            <emma:emma xmlns:emma="http://www.w3.org/2003/04/emma" version="1.0">
              <emma:interpretation id="{5BBD84EA-A8AF-4A5D-BBE4-E21C5B3160C0}" emma:medium="tactile" emma:mode="ink">
                <msink:context xmlns:msink="http://schemas.microsoft.com/ink/2010/main" type="inkWord" rotatedBoundingBox="15228,15988 17019,15621 17153,16274 15362,16641"/>
              </emma:interpretation>
              <emma:one-of disjunction-type="recognition" id="oneOf2">
                <emma:interpretation id="interp2" emma:lang="" emma:confidence="0">
                  <emma:literal>USES</emma:literal>
                </emma:interpretation>
                <emma:interpretation id="interp3" emma:lang="" emma:confidence="0">
                  <emma:literal>uses</emma:literal>
                </emma:interpretation>
                <emma:interpretation id="interp4" emma:lang="" emma:confidence="0">
                  <emma:literal>use's</emma:literal>
                </emma:interpretation>
                <emma:interpretation id="interp5" emma:lang="" emma:confidence="0">
                  <emma:literal>Uses</emma:literal>
                </emma:interpretation>
                <emma:interpretation id="interp6" emma:lang="" emma:confidence="0">
                  <emma:literal>users</emma:literal>
                </emma:interpretation>
              </emma:one-of>
            </emma:emma>
          </inkml:annotationXML>
          <inkml:trace contextRef="#ctx0" brushRef="#br0" timeOffset="3521.67">5974-466 1709 0,'0'0'1645'16,"0"0"-1384"-16,0 0-62 0,0 0-17 15,0 0-44-15,0 0 40 0,0 0-20 16,0 0-37-16,0 0-32 0,0 0-43 16,0 0 9-16,-8 37 38 0,8 0-35 15,5 7-28-15,-1 3-14 0,6 4 5 16,2-6 0-16,1-4-19 0,6-7 26 16,0-9-1-16,2-8-24 0,1-9-1 0,2-6 0 15,-3-2-1-15,1-9-1 0,-1-9-3 16,-4-7-10-16,-2-7-17 0,-1-6 30 15,-5-5-34-15,-5-1 4 0,-4-1 2 16,0 0 13-16,-8 4 2 0,-5 5 12 0,-4 4-11 16,-1 7 12-16,-2 5 19 0,3 7-1 15,4 4-18-15,5 7-14 0,7 2-69 16,1 0-74-16,0 1-115 0,5 7-140 16,7-1-169-16,-2-3-194 0,10 3-747 0</inkml:trace>
          <inkml:trace contextRef="#ctx0" brushRef="#br0" timeOffset="3861.7">6847-795 2936 0,'0'0'1170'0,"0"0"-976"0,0 0 16 16,0 0-34-16,0 0 33 0,0 0-10 15,0 0-93-15,0 0-78 0,-128 110-26 16,88-73 13-16,0 0-15 0,-2-2-3 15,3-2 0-15,3-3-21 0,5-7-16 0,7-7 11 16,7-1 29-16,9-8 1 0,8-6-1 16,4-1-55-16,13 0 15 0,6-7 40 15,8 1 14-15,4 1-14 0,2 0-33 16,2 5-19-16,-1 0 3 0,-3 4-22 16,-2 7-21-16,-7 2-3 0,-5 2-4 15,-9 1 74-15,-4 2 25 0,-8 2 19 16,0 1-1-16,-12 1 4 0,-5 0 0 15,-3-2 12-15,-6-1 15 0,5-2-22 16,-2 2 26-16,1-2-53 0,1-1-3 16,2 3-47-16,4-3-122 0,3-1-82 0,3 0-251 15,2-5-555-15,3-3-575 0</inkml:trace>
          <inkml:trace contextRef="#ctx0" brushRef="#br0" timeOffset="4470.46">6805-609 2762 0,'0'0'545'0,"0"0"-250"16,0 0-83-16,0 0-30 0,103-95 9 15,-58 68-78-15,2-1-61 0,1 0 1 16,-1 5-53-16,-6 1-3 0,-2 4-50 15,-9 5-9-15,-5 4-19 0,-9 6-50 16,-6 3-64-16,-2 0-58 0,-8 12-64 16,0 3-109-16,0-2-158 0,-12 16-561 0</inkml:trace>
          <inkml:trace contextRef="#ctx0" brushRef="#br0" timeOffset="4258.57">6989-606 460 0,'0'0'2428'0,"0"0"-1802"16,0 0-168-16,0 0-160 0,0 0-75 0,0 0-4 16,0 0-112-16,0 0-70 0,0 0-37 15,0 0-6-15,-27 97-12 16,27-74-10-16,0 2 3 0,8-2-2 0,4-3-7 15,6-5 12-15,0-4-5 0,8-9 27 16,3-2 32-16,1-7 14 0,3-7-46 16,1-4 0-16,-3 0-34 0,-6 3-34 15,-5 1-62-15,-4 6-49 0,-8 3-77 16,-4 2-87-16,-4 1-248 0,0 0-459 16,-6-3-385-16</inkml:trace>
          <inkml:trace contextRef="#ctx0" brushRef="#br0" timeOffset="4901.39">7052-549 2996 0,'0'0'634'16,"0"0"-350"-16,0 0-227 0,0 0-42 0,0 0-15 16,106-97-59-16,-61 65-48 0,4 0-67 15,0 1-73-15,-2 2-136 0,-4 4-259 16,-1 2 16-16,-7 3 129 0,-6 3 216 16,1-1 164-16,-6 1 117 0,-3 1 43 15,-1-1 243-15,-2 0 66 0,0 0-34 0,-1-1-6 16,-4 1-82-16,2 1-104 15,-6 2-78-15,-4 6-48 0,-2 6-46 0,-3 2-31 16,-4 7-34-16,-9 11 37 0,-10 7 19 16,-7 5-62-16,2 3 117 0,-4 3 29 15,1-1 179-15,2-1 108 0,1-8 54 16,9-3-15-16,3-8-54 0,8-6-70 16,8-8-81-16,0-1-80 0,16-1-36 15,7-8 10-15,6 0-35 0,7-2-9 16,0 4-31-16,2 3 12 0,0 4-6 0,-5 3-3 15,-3 10-6-15,-8 5-5 16,-6 6-17-16,-6 1 56 0,-6 3 6 0,-4-3 54 16,-6-1 3-16,-7-2 40 0,-3-4 15 15,-4-3-12-15,1-2-1 0,2-4-19 16,-3-4-39-16,-1-4-47 0,4-1-59 0,-2 0-102 16,-4-1-156-16,9-3-345 0,-10 0-1234 15</inkml:trace>
        </inkml:traceGroup>
      </inkml:traceGroup>
    </inkml:traceGroup>
    <inkml:traceGroup>
      <inkml:annotationXML>
        <emma:emma xmlns:emma="http://www.w3.org/2003/04/emma" version="1.0">
          <emma:interpretation id="{49D13AA4-0668-4F6A-A6C2-5B530F8E7A57}" emma:medium="tactile" emma:mode="ink">
            <msink:context xmlns:msink="http://schemas.microsoft.com/ink/2010/main" type="paragraph" rotatedBoundingBox="13486,17810 17835,16266 18281,17522 13931,1906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0DB4B22-8B5C-4D6A-BBC8-2692813FDE40}" emma:medium="tactile" emma:mode="ink">
              <msink:context xmlns:msink="http://schemas.microsoft.com/ink/2010/main" type="line" rotatedBoundingBox="13486,17810 17835,16266 18281,17522 13931,19065"/>
            </emma:interpretation>
          </emma:emma>
        </inkml:annotationXML>
        <inkml:traceGroup>
          <inkml:annotationXML>
            <emma:emma xmlns:emma="http://www.w3.org/2003/04/emma" version="1.0">
              <emma:interpretation id="{C220774B-B0CA-446B-9DC2-BA54ADBBA135}" emma:medium="tactile" emma:mode="ink">
                <msink:context xmlns:msink="http://schemas.microsoft.com/ink/2010/main" type="inkWord" rotatedBoundingBox="13508,17874 14040,17685 14359,18583 13827,18771"/>
              </emma:interpretation>
              <emma:one-of disjunction-type="recognition" id="oneOf3">
                <emma:interpretation id="interp7" emma:lang="" emma:confidence="0">
                  <emma:literal>.</emma:literal>
                </emma:interpretation>
                <emma:interpretation id="interp8" emma:lang="" emma:confidence="0">
                  <emma:literal>`</emma:literal>
                </emma:interpretation>
                <emma:interpretation id="interp9" emma:lang="" emma:confidence="0">
                  <emma:literal>\</emma:literal>
                </emma:interpretation>
                <emma:interpretation id="interp10" emma:lang="" emma:confidence="0">
                  <emma:literal>,</emma:literal>
                </emma:interpretation>
                <emma:interpretation id="interp11" emma:lang="" emma:confidence="0">
                  <emma:literal>^</emma:literal>
                </emma:interpretation>
              </emma:one-of>
            </emma:emma>
          </inkml:annotationXML>
          <inkml:trace contextRef="#ctx0" brushRef="#br0" timeOffset="8138.42">4479 1524 850 0,'0'0'120'0,"0"0"-120"0,-108-15-81 15,96 4 81-15,1-3 117 0,-4 1-91 16,2-1-22-16,-1-2 28 0,1 4 141 15,-2 4 94-15,5 1-66 0,-1 3-32 16,3 0 0-16,5 1-65 0,1-1-29 0,2 0-1 16,0-5-72-16,9-3 50 15,3-3 58-15,1-4-23 0,6-5-6 0,-2-4 54 16,2-4 58-16,-2 2-1 0,0 1-48 16,-7 6-4-16,-7 10 12 0,-3 5 85 15,0 8 146-15,-5 0-20 0,-3 2-101 16,0 5-91-16,4 2-85 0,-1 4-31 15,5 4-25-15,0 5-15 0,15 4 19 16,4 11 15-16,9 5-13 0,7 7-24 16,8 9 3-16,10 5-15 0,6 2-12 15,4 2-61-15,1-4-12 0,-1-2-46 0,-3-12-65 16,-4-3-87-16,-6-12-263 0,-16-9-670 16,4-3-1001-16</inkml:trace>
        </inkml:traceGroup>
        <inkml:traceGroup>
          <inkml:annotationXML>
            <emma:emma xmlns:emma="http://www.w3.org/2003/04/emma" version="1.0">
              <emma:interpretation id="{0378F93D-2C7D-4129-A84A-9157D8EA47E2}" emma:medium="tactile" emma:mode="ink">
                <msink:context xmlns:msink="http://schemas.microsoft.com/ink/2010/main" type="inkWord" rotatedBoundingBox="13805,18177 13819,18172 13824,18187 13811,18192"/>
              </emma:interpretation>
              <emma:one-of disjunction-type="recognition" id="oneOf4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7873.89">4477 1524 368 0,'0'0'274'0,"0"0"-274"16,0 0-642-16</inkml:trace>
        </inkml:traceGroup>
        <inkml:traceGroup>
          <inkml:annotationXML>
            <emma:emma xmlns:emma="http://www.w3.org/2003/04/emma" version="1.0">
              <emma:interpretation id="{4C5BA5BE-75C3-45A1-931C-F8898CEA6146}" emma:medium="tactile" emma:mode="ink">
                <msink:context xmlns:msink="http://schemas.microsoft.com/ink/2010/main" type="inkWord" rotatedBoundingBox="14188,17577 16645,16705 17085,17946 14628,18818"/>
              </emma:interpretation>
              <emma:one-of disjunction-type="recognition" id="oneOf5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6641.23">6213 837 333 0,'0'0'3478'0,"0"0"-3029"15,0 0-213-15,0 0-57 0,-104 20-7 0,94 0-10 16,2 7-162-16,8 6-18 0,0 1-22 15,4 7 0-15,10-2 7 0,4 1 11 16,0-4 8-16,1-1 14 0,0-3 15 16,-2-6 4-16,5-3-6 0,-2-5-13 15,1-5-22-15,1-2-30 0,3-5-71 16,-3-4-93-16,3-2-138 0,-2-2-201 16,-5-3-612-16,0-12-536 0</inkml:trace>
          <inkml:trace contextRef="#ctx0" brushRef="#br0" timeOffset="6824.79">6615 821 2013 0,'0'0'1682'0,"0"0"-1383"16,0 0 11-16,0 0-146 0,0 0-84 0,-82 123-77 16,63-77-3-16,4 0-15 15,-2 0 15-15,2-4-12 0,1-4 9 0,-1-6-59 16,4-9-50-16,0-7-65 15,3-11-56-15,3-5-98 0,-4-14-326 0,2-1-459 16,-4-20-180-16</inkml:trace>
          <inkml:trace contextRef="#ctx0" brushRef="#br0" timeOffset="7005.56">6372 947 1311 0,'0'0'1779'15,"0"0"-1383"-15,0 0-146 0,0 0-137 16,107 86-15-16,-73-68-39 0,-1-7-24 0,1-3-9 15,-1 0-7-15,-3-6-19 0,-2 0-51 16,-5-2-24-16,-6 0-60 0,-5 0-38 16,-6 0-193-16,-2 0-350 0,-4-4-750 0</inkml:trace>
          <inkml:trace contextRef="#ctx0" brushRef="#br0" timeOffset="7229.74">6603 593 3587 0,'0'0'580'0,"0"0"-387"0,0 0-42 16,0 0-3-16,100-23 58 0,-62 23-108 15,1 1-75-15,0 7-23 0,3 7 0 16,-4 2-12-16,0 6 10 0,-8 5-25 0,-1 3 21 16,-11 6 6-16,-2-1 1 0,-8 3 2 15,-6-3 28-15,-2-2-1 0,0-5-2 16,-10-4-7-16,1-2-21 0,-4-5-3 15,-2-1 3-15,-4-2-43 0,2-3-64 16,-2-4-31-16,4-3-10 0,0-2-65 0,5 0-146 16,-1 1-203-16,4-1-448 0,1 1-465 15</inkml:trace>
          <inkml:trace contextRef="#ctx0" brushRef="#br0" timeOffset="7523.86">7154 110 4108 0,'0'0'525'0,"0"0"-344"16,0 0-95-16,0 0-16 0,72 118 34 0,-42-67-27 16,6 9-41-16,4 10-36 0,0 8-10 15,5 10-20-15,-1 5-34 0,0 1-68 16,3-2-6-16,0-6 68 0,-1-1-137 16,-8-6-97-16,-5-5-202 0,-15-22-503 15,-6 15-730-15</inkml:trace>
          <inkml:trace contextRef="#ctx0" brushRef="#br0" timeOffset="6023.77">5368 1380 1520 0,'0'0'568'0,"0"0"-299"0,0 0-110 15,0 0-108-15,0 0 127 0,0 0 143 16,0 0-56-16,0 0-46 0,25-86-1 15,-21 65-23-15,-2 0-18 0,-2 5-40 16,-2 3-29-16,-10 4 10 0,-5 3-13 0,-3 0-43 16,-6 6-51-16,-1 0-11 0,-5 6-25 15,1 10 9-15,-1 6 16 0,-3 11 0 16,9 0 1-16,0 7-1 0,3 3 40 16,9-6-17-16,3-6-23 0,11-6-25 15,0-10-15-15,15-9-25 0,6-6-9 16,6-4 21-16,5-11 26 0,1-6-39 0,0-1-14 15,-8-1-45-15,1 0-23 0,-10 3 4 16,-4 4 33-16,-4 2 61 0,-7 6 31 16,2 1-13-16,-3 4-18 0,0 1 50 15,0 2 19-15,0 0 72 0,4 3 1 16,3 6-32-16,7 2-48 0,8 3 76 16,5 4-3-16,10 4-34 0,5 2 2 0,2 4-53 15,-2 0 2-15,0 3-2 0,-4 2-17 16,-3-2 17-16,-10 1 16 0,-6-2 9 15,-8 0 22-15,-7 0 9 0,-4 0 28 16,-8 0 12-16,-10 2-16 0,-3-2-15 16,-6 0-7-16,-1-5-21 0,-2-5-37 15,1-7-3-15,3-6-52 0,4-7-99 16,0-5 2-16,5-8-29 0,2-5-23 16,4-3-77-16,5 1-183 0,2 3-532 15,4-6-393-15</inkml:trace>
          <inkml:trace contextRef="#ctx0" brushRef="#br0" timeOffset="6286.4">5700 778 3536 0,'0'0'567'16,"0"0"-324"-16,0 0 5 0,0 0-76 16,0 0 18-16,0 0-61 0,0 0-127 15,0 0 1-15,4 92-3 0,7-64-34 16,0-1-27-16,0-5 0 0,-2-2-28 0,-1-3-34 16,-3-8-56-16,-1 0-53 15,-1-5-113-15,1-1-204 0,-3-3-572 0,1-3-508 0</inkml:trace>
        </inkml:traceGroup>
        <inkml:traceGroup>
          <inkml:annotationXML>
            <emma:emma xmlns:emma="http://www.w3.org/2003/04/emma" version="1.0">
              <emma:interpretation id="{F85BAED6-540C-44D2-9BED-3B8B70B42A98}" emma:medium="tactile" emma:mode="ink">
                <msink:context xmlns:msink="http://schemas.microsoft.com/ink/2010/main" type="inkWord" rotatedBoundingBox="17059,16542 17835,16266 18104,17022 17327,17298"/>
              </emma:interpretation>
              <emma:one-of disjunction-type="recognition" id="oneOf6">
                <emma:interpretation id="interp14" emma:lang="" emma:confidence="1">
                  <emma:literal>71</emma:literal>
                </emma:interpretation>
                <emma:interpretation id="interp15" emma:lang="" emma:confidence="0">
                  <emma:literal>7 ,</emma:literal>
                </emma:interpretation>
                <emma:interpretation id="interp16" emma:lang="" emma:confidence="0">
                  <emma:literal>7 .</emma:literal>
                </emma:interpretation>
                <emma:interpretation id="interp17" emma:lang="" emma:confidence="0">
                  <emma:literal>7 l</emma:literal>
                </emma:interpretation>
                <emma:interpretation id="interp18" emma:lang="" emma:confidence="0">
                  <emma:literal>7 1</emma:literal>
                </emma:interpretation>
              </emma:one-of>
            </emma:emma>
          </inkml:annotationXML>
          <inkml:trace contextRef="#ctx0" brushRef="#br0" timeOffset="9136.45">7789 55 2929 0,'0'0'657'0,"0"0"-322"15,0 0-16-15,0 0-135 0,0 0 90 16,0 0-13-16,0 0-151 0,0 0-79 0,0 0 18 15,0 0-22-15,0 0-3 16,88 12-24-16,-42-27-12 0,3-2-30 16,-2 0-38-16,-3 4-11 0,-8 1-17 0,-4 4-8 15,-9 3 33-15,-4 2 12 0,-8 3-16 16,-3 0 13-16,-4 0 48 0,-2 5 26 16,-2 5 37-16,0 3 41 0,0 5 8 15,-2 4-21-15,-6 5-34 0,0 3-1 16,-3 2 1-16,0-1 15 0,0 1-3 15,1-1 9-15,-2-2-9 0,2-4-25 16,2-2-16-16,3-4-2 0,-2-4-3 16,4-3-30-16,1-2-16 0,2-2-19 0,0 0-48 15,0 2-45-15,0 2-52 16,0 2-113-16,5-1-175 0,7 0-232 0,-5-2-415 16,6-2-149-16</inkml:trace>
          <inkml:trace contextRef="#ctx0" brushRef="#br0" timeOffset="9376.57">8421-356 3432 0,'0'0'1098'0,"0"0"-849"15,0 0 18-15,0 0-84 0,0 0-37 0,17 94 78 16,-1-41-121-16,6 7-75 0,6 7-28 16,6 2-9-16,4-1-58 0,4 0-54 15,-2-8-46-15,0-3-83 0,-7-6-234 0,-8-15-515 16,-6 7-764-16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3984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557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730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238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2879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448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938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687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5568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987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600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AE2CA-6960-4F5A-9A88-8C07A729A5CE}" type="datetimeFigureOut">
              <a:rPr lang="en-CA" smtClean="0"/>
              <a:t>2026-06-01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9929E-ACA2-4EEE-B1C5-0F87742AAB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322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228600"/>
            <a:ext cx="10845297" cy="63976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2.7 Open Methods </a:t>
            </a:r>
            <a:r>
              <a:rPr lang="en-US" sz="3000" dirty="0"/>
              <a:t>[Simple fixed-point iteration - Revisited]</a:t>
            </a:r>
            <a:endParaRPr lang="en-CA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944563"/>
                <a:ext cx="8229600" cy="513556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CA" sz="2000" u="sng" dirty="0">
                    <a:solidFill>
                      <a:srgbClr val="0070C0"/>
                    </a:solidFill>
                  </a:rPr>
                  <a:t>Given:</a:t>
                </a:r>
                <a:r>
                  <a:rPr lang="en-CA" sz="2000" dirty="0">
                    <a:solidFill>
                      <a:srgbClr val="0070C0"/>
                    </a:solidFill>
                  </a:rPr>
                  <a:t> y=f(x); solve for root of y, i.e. f(x)=0, then rearrange to: </a:t>
                </a:r>
              </a:p>
              <a:p>
                <a:pPr marL="0" indent="0">
                  <a:buNone/>
                </a:pPr>
                <a:r>
                  <a:rPr lang="en-CA" sz="2000" b="0" dirty="0">
                    <a:solidFill>
                      <a:srgbClr val="0070C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CA" sz="2000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CA" sz="2000" dirty="0">
                    <a:solidFill>
                      <a:srgbClr val="0070C0"/>
                    </a:solidFill>
                  </a:rPr>
                  <a:t>     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CA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CA" sz="2000" u="sn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CA" sz="2000" u="sng" dirty="0">
                    <a:solidFill>
                      <a:srgbClr val="0070C0"/>
                    </a:solidFill>
                  </a:rPr>
                  <a:t>Example:</a:t>
                </a:r>
                <a:r>
                  <a:rPr lang="en-CA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endParaRPr lang="en-CA" sz="2000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CA" sz="2000" b="0" dirty="0">
                    <a:solidFill>
                      <a:srgbClr val="0070C0"/>
                    </a:solidFill>
                  </a:rPr>
                  <a:t>	  Solve for </a:t>
                </a:r>
                <a14:m>
                  <m:oMath xmlns:m="http://schemas.openxmlformats.org/officeDocument/2006/math"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num>
                      <m:den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CA" sz="2000" b="0" dirty="0">
                    <a:solidFill>
                      <a:srgbClr val="0070C0"/>
                    </a:solidFill>
                  </a:rPr>
                  <a:t>      -&gt;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CA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CA" sz="20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sz="20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num>
                      <m:den>
                        <m:r>
                          <a:rPr lang="en-CA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CA" sz="2000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CA" sz="2000" u="sn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CA" sz="2000" u="sng" dirty="0">
                    <a:solidFill>
                      <a:srgbClr val="0070C0"/>
                    </a:solidFill>
                  </a:rPr>
                  <a:t>Example:</a:t>
                </a:r>
                <a:r>
                  <a:rPr lang="en-CA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lang="en-CA" sz="20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 sz="200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CA" sz="2000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CA" sz="2000" dirty="0">
                    <a:solidFill>
                      <a:srgbClr val="0070C0"/>
                    </a:solidFill>
                  </a:rPr>
                  <a:t>	  Add </a:t>
                </a:r>
                <a14:m>
                  <m:oMath xmlns:m="http://schemas.openxmlformats.org/officeDocument/2006/math"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sz="2000" b="0" dirty="0">
                    <a:solidFill>
                      <a:srgbClr val="0070C0"/>
                    </a:solidFill>
                  </a:rPr>
                  <a:t> to both sides of equation</a:t>
                </a:r>
              </a:p>
              <a:p>
                <a:pPr marL="0" indent="0">
                  <a:buNone/>
                </a:pPr>
                <a:r>
                  <a:rPr lang="en-CA" sz="2000" dirty="0">
                    <a:solidFill>
                      <a:srgbClr val="0070C0"/>
                    </a:solidFill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sz="20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CA" sz="2000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The derivative of g(x), evaluated at a given x, method (</a:t>
                </a:r>
                <a:r>
                  <a:rPr lang="en-US" sz="2000" u="sng" dirty="0">
                    <a:solidFill>
                      <a:srgbClr val="0070C0"/>
                    </a:solidFill>
                  </a:rPr>
                  <a:t>conditionally</a:t>
                </a:r>
                <a:r>
                  <a:rPr lang="en-US" sz="2000" dirty="0">
                    <a:solidFill>
                      <a:srgbClr val="0070C0"/>
                    </a:solidFill>
                  </a:rPr>
                  <a:t>) in the region of interest:</a:t>
                </a:r>
                <a:endParaRPr lang="en-CA" sz="2000" dirty="0">
                  <a:solidFill>
                    <a:srgbClr val="0070C0"/>
                  </a:solidFill>
                </a:endParaRPr>
              </a:p>
              <a:p>
                <a:pPr marL="342900" indent="-342900"/>
                <a:r>
                  <a:rPr lang="en-CA" sz="2000" dirty="0">
                    <a:solidFill>
                      <a:srgbClr val="0070C0"/>
                    </a:solidFill>
                  </a:rPr>
                  <a:t>Converges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CA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CA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CA" sz="2000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342900" indent="-342900"/>
                <a:r>
                  <a:rPr lang="en-CA" sz="2000" dirty="0">
                    <a:solidFill>
                      <a:srgbClr val="0070C0"/>
                    </a:solidFill>
                  </a:rPr>
                  <a:t>Diverges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CA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CA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CA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CA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CA" sz="2000" b="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944563"/>
                <a:ext cx="8229600" cy="5135563"/>
              </a:xfrm>
              <a:blipFill>
                <a:blip r:embed="rId2"/>
                <a:stretch>
                  <a:fillRect l="-741" t="-2019" r="-7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/>
              <p14:cNvContentPartPr/>
              <p14:nvPr/>
            </p14:nvContentPartPr>
            <p14:xfrm>
              <a:off x="3358638" y="5623781"/>
              <a:ext cx="3159360" cy="106668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0278" y="5611901"/>
                <a:ext cx="3187800" cy="109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9179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228600"/>
            <a:ext cx="10845297" cy="63976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2.7 Open Methods </a:t>
            </a:r>
            <a:r>
              <a:rPr lang="en-US" sz="3000" dirty="0"/>
              <a:t>[Simple fixed-point iteration - Revisited]</a:t>
            </a:r>
            <a:endParaRPr lang="en-CA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E6A3F4-D86C-4563-BB70-3757F65AA7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944563"/>
                <a:ext cx="8229600" cy="51355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CA" sz="2000" dirty="0"/>
                  <a:t> </a:t>
                </a:r>
                <a14:m>
                  <m:oMath xmlns:m="http://schemas.openxmlformats.org/officeDocument/2006/math">
                    <m:r>
                      <a:rPr lang="en-CA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A" sz="2000" dirty="0">
                    <a:solidFill>
                      <a:srgbClr val="0070C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CA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A" sz="20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CA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CA" sz="2000" dirty="0">
                    <a:solidFill>
                      <a:srgbClr val="0070C0"/>
                    </a:solidFill>
                  </a:rPr>
                  <a:t>		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CA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CA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CA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CA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CA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CA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CA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∙100%</m:t>
                    </m:r>
                  </m:oMath>
                </a14:m>
                <a:endParaRPr lang="en-CA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E6A3F4-D86C-4563-BB70-3757F65AA7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944563"/>
                <a:ext cx="8229600" cy="5135563"/>
              </a:xfrm>
              <a:blipFill>
                <a:blip r:embed="rId2"/>
                <a:stretch>
                  <a:fillRect l="-667" t="-13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466" y="960435"/>
            <a:ext cx="3666667" cy="477142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69" y="2017429"/>
            <a:ext cx="4396740" cy="334518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D1E613F-17A9-B245-CD40-0E081CCA1ACB}"/>
              </a:ext>
            </a:extLst>
          </p:cNvPr>
          <p:cNvGrpSpPr/>
          <p:nvPr/>
        </p:nvGrpSpPr>
        <p:grpSpPr>
          <a:xfrm>
            <a:off x="4194835" y="2983070"/>
            <a:ext cx="4107881" cy="2658386"/>
            <a:chOff x="4662791" y="3497941"/>
            <a:chExt cx="4107881" cy="2658386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2791" y="3497941"/>
              <a:ext cx="4107881" cy="2658386"/>
            </a:xfrm>
            <a:prstGeom prst="rect">
              <a:avLst/>
            </a:prstGeom>
          </p:spPr>
        </p:pic>
        <p:cxnSp>
          <p:nvCxnSpPr>
            <p:cNvPr id="24" name="Straight Arrow Connector 23"/>
            <p:cNvCxnSpPr/>
            <p:nvPr/>
          </p:nvCxnSpPr>
          <p:spPr>
            <a:xfrm flipV="1">
              <a:off x="7390188" y="5136204"/>
              <a:ext cx="2833" cy="17627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6614809" y="5048655"/>
              <a:ext cx="350195" cy="531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6965004" y="5000041"/>
              <a:ext cx="0" cy="1021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6614809" y="5038928"/>
              <a:ext cx="0" cy="12645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H="1" flipV="1">
              <a:off x="6614809" y="5165387"/>
              <a:ext cx="741817" cy="59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142E24-A8CC-7B14-5657-86F8F0488C31}"/>
                  </a:ext>
                </a:extLst>
              </p:cNvPr>
              <p:cNvSpPr txBox="1"/>
              <p:nvPr/>
            </p:nvSpPr>
            <p:spPr>
              <a:xfrm>
                <a:off x="135269" y="5802740"/>
                <a:ext cx="56769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sz="1600" dirty="0">
                    <a:solidFill>
                      <a:srgbClr val="0070C0"/>
                    </a:solidFill>
                  </a:rPr>
                  <a:t>Converges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CA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CA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CA" sz="1600" b="0" dirty="0">
                    <a:solidFill>
                      <a:srgbClr val="0070C0"/>
                    </a:solidFill>
                  </a:rPr>
                  <a:t> in the region of interest (near the root) -&gt; slope </a:t>
                </a:r>
                <a:r>
                  <a:rPr lang="en-CA" sz="1600" dirty="0">
                    <a:solidFill>
                      <a:srgbClr val="0070C0"/>
                    </a:solidFill>
                  </a:rPr>
                  <a:t>at </a:t>
                </a:r>
                <a:r>
                  <a:rPr lang="en-CA" sz="1600" dirty="0" err="1">
                    <a:solidFill>
                      <a:srgbClr val="0070C0"/>
                    </a:solidFill>
                  </a:rPr>
                  <a:t>x</a:t>
                </a:r>
                <a:r>
                  <a:rPr lang="en-CA" sz="1600" baseline="-25000" dirty="0" err="1">
                    <a:solidFill>
                      <a:srgbClr val="0070C0"/>
                    </a:solidFill>
                  </a:rPr>
                  <a:t>r</a:t>
                </a:r>
                <a:r>
                  <a:rPr lang="en-CA" sz="1600" baseline="-25000" dirty="0">
                    <a:solidFill>
                      <a:srgbClr val="0070C0"/>
                    </a:solidFill>
                  </a:rPr>
                  <a:t> </a:t>
                </a:r>
                <a:r>
                  <a:rPr lang="en-CA" sz="1600" b="0" dirty="0">
                    <a:solidFill>
                      <a:srgbClr val="0070C0"/>
                    </a:solidFill>
                  </a:rPr>
                  <a:t>where </a:t>
                </a:r>
                <a:r>
                  <a:rPr lang="en-CA" sz="1600" b="0" dirty="0" err="1">
                    <a:solidFill>
                      <a:srgbClr val="0070C0"/>
                    </a:solidFill>
                  </a:rPr>
                  <a:t>x</a:t>
                </a:r>
                <a:r>
                  <a:rPr lang="en-CA" sz="1600" baseline="-25000" dirty="0" err="1">
                    <a:solidFill>
                      <a:srgbClr val="0070C0"/>
                    </a:solidFill>
                  </a:rPr>
                  <a:t>r</a:t>
                </a:r>
                <a:r>
                  <a:rPr lang="en-CA" sz="1600" dirty="0">
                    <a:solidFill>
                      <a:srgbClr val="0070C0"/>
                    </a:solidFill>
                  </a:rPr>
                  <a:t> is the root</a:t>
                </a:r>
                <a:endParaRPr lang="en-CA" sz="1600" b="0" dirty="0">
                  <a:solidFill>
                    <a:srgbClr val="0070C0"/>
                  </a:solidFill>
                </a:endParaRPr>
              </a:p>
              <a:p>
                <a:r>
                  <a:rPr lang="en-CA" sz="1600" dirty="0">
                    <a:solidFill>
                      <a:srgbClr val="0070C0"/>
                    </a:solidFill>
                  </a:rPr>
                  <a:t>	[see box 6.1 in </a:t>
                </a:r>
                <a:r>
                  <a:rPr lang="en-CA" sz="1600" dirty="0" err="1">
                    <a:solidFill>
                      <a:srgbClr val="0070C0"/>
                    </a:solidFill>
                  </a:rPr>
                  <a:t>Chapra</a:t>
                </a:r>
                <a:r>
                  <a:rPr lang="en-CA" sz="1600" dirty="0">
                    <a:solidFill>
                      <a:srgbClr val="0070C0"/>
                    </a:solidFill>
                  </a:rPr>
                  <a:t> for proof]</a:t>
                </a:r>
                <a:endParaRPr lang="en-CA" sz="1600" b="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142E24-A8CC-7B14-5657-86F8F0488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69" y="5802740"/>
                <a:ext cx="5676900" cy="830997"/>
              </a:xfrm>
              <a:prstGeom prst="rect">
                <a:avLst/>
              </a:prstGeom>
              <a:blipFill>
                <a:blip r:embed="rId6"/>
                <a:stretch>
                  <a:fillRect l="-430" t="-2206" b="-882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7DFBCA-0517-F907-2F42-8C5C0DE9420B}"/>
                  </a:ext>
                </a:extLst>
              </p:cNvPr>
              <p:cNvSpPr txBox="1"/>
              <p:nvPr/>
            </p:nvSpPr>
            <p:spPr>
              <a:xfrm>
                <a:off x="6976678" y="5965296"/>
                <a:ext cx="5080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CA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=0.57</m:t>
                    </m:r>
                    <m:r>
                      <a:rPr lang="en-CA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CA" sz="1600" b="0" dirty="0">
                    <a:solidFill>
                      <a:srgbClr val="0070C0"/>
                    </a:solidFill>
                  </a:rPr>
                  <a:t> in the region of interest (near the root)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7DFBCA-0517-F907-2F42-8C5C0DE94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678" y="5965296"/>
                <a:ext cx="5080053" cy="338554"/>
              </a:xfrm>
              <a:prstGeom prst="rect">
                <a:avLst/>
              </a:prstGeom>
              <a:blipFill>
                <a:blip r:embed="rId7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65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228600"/>
            <a:ext cx="10845297" cy="63976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2.7 Open Methods </a:t>
            </a:r>
            <a:r>
              <a:rPr lang="en-US" sz="3000" dirty="0"/>
              <a:t>[Simple fixed-point iteration - Revisited]</a:t>
            </a:r>
            <a:endParaRPr lang="en-CA" sz="3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8E6A3F4-D86C-4563-BB70-3757F65AA7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944563"/>
                <a:ext cx="8229600" cy="51355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sz="2000" dirty="0">
                    <a:solidFill>
                      <a:srgbClr val="0070C0"/>
                    </a:solidFill>
                  </a:rPr>
                  <a:t>Consider the function: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f(x) = x</a:t>
                </a:r>
                <a:r>
                  <a:rPr lang="en-US" sz="2000" baseline="30000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dirty="0">
                    <a:solidFill>
                      <a:srgbClr val="0070C0"/>
                    </a:solidFill>
                  </a:rPr>
                  <a:t>-e</a:t>
                </a:r>
                <a:r>
                  <a:rPr lang="en-US" sz="2000" baseline="30000" dirty="0">
                    <a:solidFill>
                      <a:srgbClr val="0070C0"/>
                    </a:solidFill>
                  </a:rPr>
                  <a:t>-x</a:t>
                </a: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(divide both sides by x, then isolate x)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x</a:t>
                </a:r>
                <a:r>
                  <a:rPr lang="en-US" sz="2000" baseline="-25000" dirty="0">
                    <a:solidFill>
                      <a:srgbClr val="0070C0"/>
                    </a:solidFill>
                  </a:rPr>
                  <a:t>i+1</a:t>
                </a:r>
                <a:r>
                  <a:rPr lang="en-US" sz="2000" dirty="0">
                    <a:solidFill>
                      <a:srgbClr val="0070C0"/>
                    </a:solidFill>
                  </a:rPr>
                  <a:t>=(e</a:t>
                </a:r>
                <a:r>
                  <a:rPr lang="en-US" sz="2000" baseline="30000" dirty="0">
                    <a:solidFill>
                      <a:srgbClr val="0070C0"/>
                    </a:solidFill>
                  </a:rPr>
                  <a:t>-xi</a:t>
                </a:r>
                <a:r>
                  <a:rPr lang="en-US" sz="2000" dirty="0">
                    <a:solidFill>
                      <a:srgbClr val="0070C0"/>
                    </a:solidFill>
                  </a:rPr>
                  <a:t>)/x</a:t>
                </a:r>
                <a:r>
                  <a:rPr lang="en-US" sz="2000" baseline="-25000" dirty="0">
                    <a:solidFill>
                      <a:srgbClr val="0070C0"/>
                    </a:solidFill>
                  </a:rPr>
                  <a:t>i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CA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CA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CA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A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CA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CA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CA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A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CA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CA" sz="20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CA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∙100%</m:t>
                      </m:r>
                    </m:oMath>
                  </m:oMathPara>
                </a14:m>
                <a:endParaRPr lang="en-CA" sz="20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8E6A3F4-D86C-4563-BB70-3757F65AA7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944563"/>
                <a:ext cx="8229600" cy="5135563"/>
              </a:xfrm>
              <a:blipFill>
                <a:blip r:embed="rId2"/>
                <a:stretch>
                  <a:fillRect l="-815" t="-13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272" y="868362"/>
            <a:ext cx="4396740" cy="33451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6022680" y="5586388"/>
                <a:ext cx="6096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/>
                <a:r>
                  <a:rPr lang="en-CA" dirty="0">
                    <a:solidFill>
                      <a:srgbClr val="0070C0"/>
                    </a:solidFill>
                  </a:rPr>
                  <a:t>Converges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CA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CA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CA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CA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342900" indent="-342900"/>
                <a:r>
                  <a:rPr lang="en-CA" dirty="0">
                    <a:solidFill>
                      <a:srgbClr val="0070C0"/>
                    </a:solidFill>
                  </a:rPr>
                  <a:t>Diverges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CA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CA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CA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CA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680" y="5586388"/>
                <a:ext cx="6096000" cy="646331"/>
              </a:xfrm>
              <a:prstGeom prst="rect">
                <a:avLst/>
              </a:prstGeom>
              <a:blipFill>
                <a:blip r:embed="rId4"/>
                <a:stretch>
                  <a:fillRect l="-900" t="-4717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The image displays a mathematical expression where the function g(x) is defined as g(x) = e^(-x) * (1/x), and its derivative g'(x) is calculated as g'(x) = -e^(-x) * (1/x) - e^(-x) * (1/x^2).&#10;&#10;AI-generated content may be incorrect.">
            <a:extLst>
              <a:ext uri="{FF2B5EF4-FFF2-40B4-BE49-F238E27FC236}">
                <a16:creationId xmlns:a16="http://schemas.microsoft.com/office/drawing/2014/main" id="{344E3789-CF71-6CD0-2FA2-8EA90C5E60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999" y="1751166"/>
            <a:ext cx="2814239" cy="490042"/>
          </a:xfrm>
          <a:prstGeom prst="rect">
            <a:avLst/>
          </a:prstGeom>
        </p:spPr>
      </p:pic>
      <p:pic>
        <p:nvPicPr>
          <p:cNvPr id="9" name="Picture 8" descr="The provided text seems to be a representation of an iteration process for a mathematical method, possibly for finding fixed points, where each iteration's result is displayed in a table format. The data shows the iteration number, the value of x, the derivative of g at x, and the percentage change. The table seems to show convergence towards a solution, with the values of x becoming smaller and the percentage changes approaching zero.&#10;&#10;AI-generated content may be incorrect.">
            <a:extLst>
              <a:ext uri="{FF2B5EF4-FFF2-40B4-BE49-F238E27FC236}">
                <a16:creationId xmlns:a16="http://schemas.microsoft.com/office/drawing/2014/main" id="{71ABE2FF-D9B4-843D-9982-0BDA4036A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9" y="4213542"/>
            <a:ext cx="5303162" cy="25362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2608C1-7D3F-B71A-775F-E154BB6EC38E}"/>
                  </a:ext>
                </a:extLst>
              </p:cNvPr>
              <p:cNvSpPr txBox="1"/>
              <p:nvPr/>
            </p:nvSpPr>
            <p:spPr>
              <a:xfrm>
                <a:off x="6593642" y="4684027"/>
                <a:ext cx="508005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CA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=1.71&gt;</m:t>
                    </m:r>
                    <m:r>
                      <a:rPr lang="en-CA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sz="1600" b="0" dirty="0">
                    <a:solidFill>
                      <a:srgbClr val="0070C0"/>
                    </a:solidFill>
                  </a:rPr>
                  <a:t> in the region of interest (near the root)</a:t>
                </a:r>
              </a:p>
              <a:p>
                <a:r>
                  <a:rPr lang="en-CA" sz="1600" dirty="0">
                    <a:solidFill>
                      <a:srgbClr val="0070C0"/>
                    </a:solidFill>
                  </a:rPr>
                  <a:t>Root is ~0.703</a:t>
                </a:r>
                <a:endParaRPr lang="en-CA" sz="1600" b="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2608C1-7D3F-B71A-775F-E154BB6EC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642" y="4684027"/>
                <a:ext cx="5080053" cy="584775"/>
              </a:xfrm>
              <a:prstGeom prst="rect">
                <a:avLst/>
              </a:prstGeom>
              <a:blipFill>
                <a:blip r:embed="rId7"/>
                <a:stretch>
                  <a:fillRect l="-720" t="-3125" b="-125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916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86" y="1455530"/>
            <a:ext cx="9685020" cy="531114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4117287" y="3725688"/>
            <a:ext cx="7740730" cy="14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9824936" y="2992207"/>
            <a:ext cx="0" cy="6075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7120647" y="3522452"/>
            <a:ext cx="6894" cy="1546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110630" y="3594382"/>
            <a:ext cx="0" cy="1653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117287" y="3627396"/>
            <a:ext cx="5707649" cy="194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5175851" y="2947481"/>
            <a:ext cx="9948" cy="5749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185799" y="2962798"/>
            <a:ext cx="4639137" cy="15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5200754" y="3522452"/>
            <a:ext cx="1944796" cy="102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 descr="The provided text seems to be a representation of an iteration process for a mathematical method, possibly for finding fixed points, where each iteration's result is displayed in a table format. The data shows the iteration number, the value of x, the derivative of g at x, and the percentage change. The table seems to show convergence towards a solution, with the values of x becoming smaller and the percentage changes approaching zero.&#10;&#10;AI-generated content may be incorrect.">
            <a:extLst>
              <a:ext uri="{FF2B5EF4-FFF2-40B4-BE49-F238E27FC236}">
                <a16:creationId xmlns:a16="http://schemas.microsoft.com/office/drawing/2014/main" id="{186CEA44-31BE-D99A-1385-98BBC42B6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199" y="4453855"/>
            <a:ext cx="4583495" cy="219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6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228600"/>
            <a:ext cx="10845297" cy="63976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2.7 Open Methods </a:t>
            </a:r>
            <a:r>
              <a:rPr lang="en-US" sz="3000" dirty="0"/>
              <a:t>[Simple fixed-point iteration - Revisited]</a:t>
            </a:r>
            <a:endParaRPr lang="en-CA" sz="3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E6A3F4-D86C-4563-BB70-3757F65AA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44563"/>
            <a:ext cx="8229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>
                <a:solidFill>
                  <a:srgbClr val="0070C0"/>
                </a:solidFill>
              </a:rPr>
              <a:t>Consider the function:</a:t>
            </a:r>
          </a:p>
          <a:p>
            <a:pPr marL="0" indent="0"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712" y="994780"/>
            <a:ext cx="4608975" cy="275563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52" y="2220196"/>
            <a:ext cx="1239714" cy="304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9" y="1239121"/>
            <a:ext cx="2271571" cy="7924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76" y="2753596"/>
            <a:ext cx="1187750" cy="2971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570" y="3229429"/>
            <a:ext cx="3761905" cy="3628571"/>
          </a:xfrm>
          <a:prstGeom prst="rect">
            <a:avLst/>
          </a:prstGeom>
        </p:spPr>
      </p:pic>
      <p:pic>
        <p:nvPicPr>
          <p:cNvPr id="6" name="Picture 5" descr="The image shows a mathematical expression where the function g(x) is defined as the exponential of negative x, and its derivative g'(x) is also the negative exponential of negative x.&#10;&#10;AI-generated content may be incorrect.">
            <a:extLst>
              <a:ext uri="{FF2B5EF4-FFF2-40B4-BE49-F238E27FC236}">
                <a16:creationId xmlns:a16="http://schemas.microsoft.com/office/drawing/2014/main" id="{8E59D304-EE73-DB4B-9F68-825273B36C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076" y="3429000"/>
            <a:ext cx="1581150" cy="571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039CAE-6A2C-ECA5-A59E-C73449C788A2}"/>
                  </a:ext>
                </a:extLst>
              </p:cNvPr>
              <p:cNvSpPr txBox="1"/>
              <p:nvPr/>
            </p:nvSpPr>
            <p:spPr>
              <a:xfrm>
                <a:off x="6720642" y="4622881"/>
                <a:ext cx="521735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CA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=0.567&lt;</m:t>
                    </m:r>
                    <m:r>
                      <a:rPr lang="en-CA" sz="1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A" sz="1600" b="0" dirty="0">
                    <a:solidFill>
                      <a:srgbClr val="0070C0"/>
                    </a:solidFill>
                  </a:rPr>
                  <a:t> in the region of interest (near the root)</a:t>
                </a:r>
              </a:p>
              <a:p>
                <a:r>
                  <a:rPr lang="en-CA" sz="1600" dirty="0">
                    <a:solidFill>
                      <a:srgbClr val="0070C0"/>
                    </a:solidFill>
                  </a:rPr>
                  <a:t>Root is ~0.567</a:t>
                </a:r>
                <a:endParaRPr lang="en-CA" sz="1600" b="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039CAE-6A2C-ECA5-A59E-C73449C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642" y="4622881"/>
                <a:ext cx="5217358" cy="584775"/>
              </a:xfrm>
              <a:prstGeom prst="rect">
                <a:avLst/>
              </a:prstGeom>
              <a:blipFill>
                <a:blip r:embed="rId8"/>
                <a:stretch>
                  <a:fillRect l="-584" t="-3125" b="-125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393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34" y="339224"/>
            <a:ext cx="10143824" cy="6097087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4222813" y="1888725"/>
            <a:ext cx="2488705" cy="288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778102" y="1947908"/>
            <a:ext cx="8877" cy="7634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5211192" y="2325949"/>
            <a:ext cx="0" cy="3795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211192" y="2320032"/>
            <a:ext cx="649354" cy="96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860546" y="2350363"/>
            <a:ext cx="0" cy="1653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5208974" y="2726185"/>
            <a:ext cx="1571348" cy="22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5619565" y="2524588"/>
            <a:ext cx="240981" cy="3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4222813" y="1888726"/>
            <a:ext cx="0" cy="12717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3354281" y="1411550"/>
            <a:ext cx="10356" cy="1748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371841" y="1411550"/>
            <a:ext cx="4413876" cy="295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792921" y="1441143"/>
            <a:ext cx="0" cy="14174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4856085" y="2846405"/>
            <a:ext cx="2936836" cy="110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755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309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2.7 Open Methods [Simple fixed-point iteration - Revisited]</vt:lpstr>
      <vt:lpstr>2.7 Open Methods [Simple fixed-point iteration - Revisited]</vt:lpstr>
      <vt:lpstr>2.7 Open Methods [Simple fixed-point iteration - Revisited]</vt:lpstr>
      <vt:lpstr>PowerPoint Presentation</vt:lpstr>
      <vt:lpstr>2.7 Open Methods [Simple fixed-point iteration - Revisited]</vt:lpstr>
      <vt:lpstr>PowerPoint Presentation</vt:lpstr>
    </vt:vector>
  </TitlesOfParts>
  <Company>Razer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Duane Cronin</dc:creator>
  <cp:lastModifiedBy>Duane Cronin</cp:lastModifiedBy>
  <cp:revision>25</cp:revision>
  <cp:lastPrinted>2021-09-16T14:46:28Z</cp:lastPrinted>
  <dcterms:created xsi:type="dcterms:W3CDTF">2021-09-15T01:35:52Z</dcterms:created>
  <dcterms:modified xsi:type="dcterms:W3CDTF">2026-06-01T19:08:37Z</dcterms:modified>
</cp:coreProperties>
</file>